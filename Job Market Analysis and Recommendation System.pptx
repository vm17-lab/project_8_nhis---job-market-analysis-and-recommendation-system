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74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6" r:id="rId11"/>
    <p:sldId id="275" r:id="rId12"/>
    <p:sldId id="2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>
      <p:cViewPr varScale="1">
        <p:scale>
          <a:sx n="78" d="100"/>
          <a:sy n="78" d="100"/>
        </p:scale>
        <p:origin x="878" y="6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3B725B-653D-4166-A8E9-72A38A1847CF}" type="datetimeFigureOut">
              <a:rPr lang="en-US"/>
              <a:t>10/14/2026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861E8E-D392-497B-BB21-122DD7C27CF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8353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3F64CD-0576-4A9A-BD06-7889D6E60BDC}" type="datetimeFigureOut">
              <a:rPr lang="en-US"/>
              <a:t>10/14/2026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55D449-B875-4B8D-8E66-224D27E54C9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9979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81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6225" y="1828800"/>
            <a:ext cx="4098175" cy="317738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6225" y="5181600"/>
            <a:ext cx="4098175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7" name="Picture 6" descr="EKG lin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8688" y="-1"/>
            <a:ext cx="7000137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75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265112" y="228600"/>
            <a:ext cx="116586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0" y="1828800"/>
            <a:ext cx="7772400" cy="317738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5181600"/>
            <a:ext cx="7772400" cy="685800"/>
          </a:xfrm>
        </p:spPr>
        <p:txBody>
          <a:bodyPr>
            <a:norm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68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270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57201"/>
            <a:ext cx="5943600" cy="5943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2699" y="5029200"/>
            <a:ext cx="3932237" cy="13716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524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" y="0"/>
            <a:ext cx="7008810" cy="6857999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5240" y="5029200"/>
            <a:ext cx="3932237" cy="137464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9982200" y="0"/>
            <a:ext cx="22098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58399" y="457201"/>
            <a:ext cx="2057401" cy="5943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457200"/>
            <a:ext cx="9067800" cy="5943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10/14/2026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ar" descr="Red bar"/>
          <p:cNvSpPr/>
          <p:nvPr/>
        </p:nvSpPr>
        <p:spPr>
          <a:xfrm>
            <a:off x="1" y="1"/>
            <a:ext cx="12188824" cy="1524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99220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799"/>
            <a:ext cx="9144000" cy="4572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481760"/>
            <a:ext cx="78486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7800" y="6465885"/>
            <a:ext cx="10668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10/14/2026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481760"/>
            <a:ext cx="8382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68680" indent="-182563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5156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3444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41732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60020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8308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336" y="1484784"/>
            <a:ext cx="4956926" cy="2160240"/>
          </a:xfrm>
        </p:spPr>
        <p:txBody>
          <a:bodyPr>
            <a:normAutofit/>
          </a:bodyPr>
          <a:lstStyle/>
          <a:p>
            <a:pPr algn="ctr"/>
            <a:r>
              <a:rPr lang="en-IN" sz="4000" dirty="0"/>
              <a:t>Job Market Analysis and Recommendation System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9606" y="3933056"/>
            <a:ext cx="3456385" cy="100811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Next Hikes IT Solutions</a:t>
            </a:r>
          </a:p>
          <a:p>
            <a:pPr algn="ctr"/>
            <a:r>
              <a:rPr lang="en-US" dirty="0"/>
              <a:t>Vincy Mehta</a:t>
            </a:r>
          </a:p>
        </p:txBody>
      </p:sp>
    </p:spTree>
    <p:extLst>
      <p:ext uri="{BB962C8B-B14F-4D97-AF65-F5344CB8AC3E}">
        <p14:creationId xmlns:p14="http://schemas.microsoft.com/office/powerpoint/2010/main" val="43514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EEEC-130D-B1D2-89E3-1CFB8C300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5400" i="1" u="sng" dirty="0">
                <a:latin typeface="Agency FB" panose="020B0503020202020204" pitchFamily="34" charset="0"/>
              </a:rPr>
              <a:t>Project Toolkit</a:t>
            </a:r>
            <a:endParaRPr lang="en-IN" i="1" u="sng" dirty="0">
              <a:latin typeface="Agency FB" panose="020B0503020202020204" pitchFamily="34" charset="0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13646EB-E197-6726-AF61-39F92AE89D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212"/>
          <a:stretch>
            <a:fillRect/>
          </a:stretch>
        </p:blipFill>
        <p:spPr>
          <a:xfrm>
            <a:off x="1066800" y="2060848"/>
            <a:ext cx="9937104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438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DBEF0B-7D74-3E60-13D4-D466BD439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344" y="1772816"/>
            <a:ext cx="11521280" cy="47525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EDF3640-66A9-EFFC-2AC8-5717FDF81F7A}"/>
              </a:ext>
            </a:extLst>
          </p:cNvPr>
          <p:cNvSpPr txBox="1"/>
          <p:nvPr/>
        </p:nvSpPr>
        <p:spPr>
          <a:xfrm>
            <a:off x="4439816" y="308169"/>
            <a:ext cx="26404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u="sng" dirty="0" err="1">
                <a:solidFill>
                  <a:schemeClr val="bg1"/>
                </a:solidFill>
                <a:latin typeface="Agency FB" panose="020B0503020202020204" pitchFamily="34" charset="0"/>
              </a:rPr>
              <a:t>Visulization</a:t>
            </a:r>
            <a:endParaRPr lang="en-IN" sz="5400" i="1" u="sng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945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86DA2-58FE-09B3-B1E7-0D03AB9D3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i="1" u="sng" dirty="0">
                <a:latin typeface="Agency FB" panose="020B0503020202020204" pitchFamily="34" charset="0"/>
              </a:rPr>
              <a:t>Insights </a:t>
            </a:r>
            <a:endParaRPr lang="en-IN" sz="5400" i="1" u="sng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A09EB-6909-3124-F23C-F9C0F7A1C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1424783"/>
            <a:ext cx="11665296" cy="520198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400" b="1" u="sng" dirty="0">
                <a:latin typeface="Arial" panose="020B0604020202020204" pitchFamily="34" charset="0"/>
                <a:cs typeface="Arial" panose="020B0604020202020204" pitchFamily="34" charset="0"/>
              </a:rPr>
              <a:t>1. Job Type Distribution (Hourly vs Fixed)   </a:t>
            </a:r>
          </a:p>
          <a:p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Hourly jobs are more common: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There are around 140,000 hourly job postings ("True") compared to approximately 104,000 fixed-price job postings ("False").   </a:t>
            </a:r>
          </a:p>
          <a:p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Preference for hourly rate: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Clients post significantly more hourly contracts than fixed-price contracts on this platform. </a:t>
            </a:r>
          </a:p>
          <a:p>
            <a:r>
              <a:rPr lang="en-IN" sz="1400" b="1" u="sng" dirty="0">
                <a:latin typeface="Arial" panose="020B0604020202020204" pitchFamily="34" charset="0"/>
                <a:cs typeface="Arial" panose="020B0604020202020204" pitchFamily="34" charset="0"/>
              </a:rPr>
              <a:t>2. Distribution of Title Word Count  </a:t>
            </a:r>
          </a:p>
          <a:p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Short titles are most popular: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Most job posting titles are concise, containing between 3 to 5 words (peaking at around 48,000–49,000 postings).</a:t>
            </a:r>
          </a:p>
          <a:p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Rarely exceed 10 words: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Titles with more than 8–10 words are very uncommon, and almost no titles exceed 12 words. </a:t>
            </a:r>
          </a:p>
          <a:p>
            <a:r>
              <a:rPr lang="en-IN" sz="1400" b="1" u="sng" dirty="0">
                <a:latin typeface="Arial" panose="020B0604020202020204" pitchFamily="34" charset="0"/>
                <a:cs typeface="Arial" panose="020B0604020202020204" pitchFamily="34" charset="0"/>
              </a:rPr>
              <a:t> 3. Top 10 Countries by Job Postings  </a:t>
            </a:r>
          </a:p>
          <a:p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United States dominates: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The United States leads by a massive margin, contributing nearly 100,000 job postings.</a:t>
            </a:r>
          </a:p>
          <a:p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Followed by the UK, India, Australia, and Canada: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The United Kingdom and India rank second and third (around 15,000–20,000 postings each), followed closely by Australia and Canada.   </a:t>
            </a:r>
          </a:p>
          <a:p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Other notable contributors: 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Pakistan, Germany, the Netherlands, and the United Arab Emirates also make the top 10 list, though with much smaller overall volume.</a:t>
            </a:r>
          </a:p>
          <a:p>
            <a:endParaRPr lang="en-IN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1CEDA-350D-DD3E-62E1-BA4829B02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5400" i="1" u="sng" dirty="0">
                <a:latin typeface="Agency FB" panose="020B0503020202020204" pitchFamily="34" charset="0"/>
              </a:rPr>
              <a:t>Insights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F68DE8-1F06-9D59-2F2A-CA8C4AF30F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368" y="1916832"/>
            <a:ext cx="4896544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83DDDA-35ED-03C1-4B74-3B6ACCCEF900}"/>
              </a:ext>
            </a:extLst>
          </p:cNvPr>
          <p:cNvSpPr txBox="1"/>
          <p:nvPr/>
        </p:nvSpPr>
        <p:spPr>
          <a:xfrm>
            <a:off x="5519936" y="1595021"/>
            <a:ext cx="640871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"Social medium" (media) is the clear leader: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It is by far the most requested two-word phrase in job titles, appearing over 7,000 times.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High demand for video creation &amp; virtual assistance: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"Video editor" ranks 2nd with around 5,400 appearances. 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"Virtual assistant" comes in 3rd with over 3,200 appearances.  </a:t>
            </a: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Marketing &amp; sales lead generation are top priorities: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Phrases like "lead generation," "google ad," "landing page," "digital marketing," and "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facebook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ad" all feature heavily in job listings.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Real estate &amp; YouTube content are popular niches: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"Real estate" and "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youtube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channel" both appear over 2,000 times. 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Youtube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video" also ranks high with around 1,400 appearances. 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Technical &amp; administrative skills remain steady: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Roles such as "data entry," "full stack," "logo design," "mobile app," "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wordpress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website," and "content writer" show strong, consistent demand ranging between 1,000 and 1,800 appearances.</a:t>
            </a:r>
          </a:p>
        </p:txBody>
      </p:sp>
    </p:spTree>
    <p:extLst>
      <p:ext uri="{BB962C8B-B14F-4D97-AF65-F5344CB8AC3E}">
        <p14:creationId xmlns:p14="http://schemas.microsoft.com/office/powerpoint/2010/main" val="4011001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B2798-3BCC-2450-39FD-A1FC6148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i="1" u="sng" dirty="0">
                <a:latin typeface="Agency FB" panose="020B0503020202020204" pitchFamily="34" charset="0"/>
              </a:rPr>
              <a:t>Insights</a:t>
            </a:r>
            <a:endParaRPr lang="en-IN" sz="5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24C6710-51D2-B657-C294-A855A4C04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360" y="1916832"/>
            <a:ext cx="5256584" cy="44644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0CFBDE-214B-990C-56E5-159C39642461}"/>
              </a:ext>
            </a:extLst>
          </p:cNvPr>
          <p:cNvSpPr txBox="1"/>
          <p:nvPr/>
        </p:nvSpPr>
        <p:spPr>
          <a:xfrm>
            <a:off x="5760640" y="1556792"/>
            <a:ext cx="6096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United States dominates the market: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US is by far the largest source of job postings, reaching nearly 100,000 jobs—significantly higher than all other countries combined.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Strong secondary market: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The United Kingdom ranks 2nd with around 19,000 jobs.  Australia (around 13,000 jobs) and Canada (around 12,000 jobs) also feature in the top 5.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India is the top Asian market: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India holds the 3rd spot overall with approximately 16,000 job postings. 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Lower volume among remaining top countries: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Pakistan, Germany, the Netherlands, and the United Arab Emirates each contribute between 4,000 and 5,000 jobs.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 small portion of postings (around 5,000) have an "Unknown" location.</a:t>
            </a:r>
          </a:p>
        </p:txBody>
      </p:sp>
    </p:spTree>
    <p:extLst>
      <p:ext uri="{BB962C8B-B14F-4D97-AF65-F5344CB8AC3E}">
        <p14:creationId xmlns:p14="http://schemas.microsoft.com/office/powerpoint/2010/main" val="1477086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43629-7E5F-3AAE-B8B2-D31EDC6F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i="1" u="sng" dirty="0">
                <a:latin typeface="Agency FB" panose="020B0503020202020204" pitchFamily="34" charset="0"/>
              </a:rPr>
              <a:t>Insights</a:t>
            </a:r>
            <a:endParaRPr lang="en-IN" sz="5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6177A7-2DB4-6B8B-E125-C341043B21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352" y="1988840"/>
            <a:ext cx="5328592" cy="4320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3C5D30-9501-A34D-7BF9-EA5C1A09C38E}"/>
              </a:ext>
            </a:extLst>
          </p:cNvPr>
          <p:cNvSpPr txBox="1"/>
          <p:nvPr/>
        </p:nvSpPr>
        <p:spPr>
          <a:xfrm>
            <a:off x="5951984" y="1733034"/>
            <a:ext cx="6096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b="1" dirty="0">
                <a:latin typeface="Arial" panose="020B0604020202020204" pitchFamily="34" charset="0"/>
                <a:cs typeface="Arial" panose="020B0604020202020204" pitchFamily="34" charset="0"/>
              </a:rPr>
              <a:t>Most jobs are budgeted under $500: </a:t>
            </a:r>
            <a:r>
              <a:rPr lang="en-IN" sz="2200" dirty="0">
                <a:latin typeface="Arial" panose="020B0604020202020204" pitchFamily="34" charset="0"/>
                <a:cs typeface="Arial" panose="020B0604020202020204" pitchFamily="34" charset="0"/>
              </a:rPr>
              <a:t>The highest concentration (density) of fixed-price jobs occurs at lower budget amounts, peaking between 0 and 300.</a:t>
            </a:r>
          </a:p>
          <a:p>
            <a:endParaRPr lang="en-I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200" b="1" dirty="0">
                <a:latin typeface="Arial" panose="020B0604020202020204" pitchFamily="34" charset="0"/>
                <a:cs typeface="Arial" panose="020B0604020202020204" pitchFamily="34" charset="0"/>
              </a:rPr>
              <a:t>Higher budgets are less common: </a:t>
            </a:r>
            <a:r>
              <a:rPr lang="en-IN" sz="2200" dirty="0">
                <a:latin typeface="Arial" panose="020B0604020202020204" pitchFamily="34" charset="0"/>
                <a:cs typeface="Arial" panose="020B0604020202020204" pitchFamily="34" charset="0"/>
              </a:rPr>
              <a:t>As the budget amount increases past 500, the density steadily drops, meaning high-budget jobs ($1,500 to 2,000) are posted far less frequently.   </a:t>
            </a:r>
          </a:p>
          <a:p>
            <a:endParaRPr lang="en-I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200" b="1" dirty="0">
                <a:latin typeface="Arial" panose="020B0604020202020204" pitchFamily="34" charset="0"/>
                <a:cs typeface="Arial" panose="020B0604020202020204" pitchFamily="34" charset="0"/>
              </a:rPr>
              <a:t>Budget range capped in view:</a:t>
            </a:r>
            <a:r>
              <a:rPr lang="en-IN" sz="2200" dirty="0">
                <a:latin typeface="Arial" panose="020B0604020202020204" pitchFamily="34" charset="0"/>
                <a:cs typeface="Arial" panose="020B0604020202020204" pitchFamily="34" charset="0"/>
              </a:rPr>
              <a:t> The chart focuses on fixed-price projects capped at $2,000, with a broad mix of small to mid-sized projects overall. </a:t>
            </a:r>
          </a:p>
        </p:txBody>
      </p:sp>
    </p:spTree>
    <p:extLst>
      <p:ext uri="{BB962C8B-B14F-4D97-AF65-F5344CB8AC3E}">
        <p14:creationId xmlns:p14="http://schemas.microsoft.com/office/powerpoint/2010/main" val="208373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9E53-E33B-1800-AB3B-E71B8CF90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5400" i="1" u="sng" dirty="0">
                <a:latin typeface="Agency FB" panose="020B0503020202020204" pitchFamily="34" charset="0"/>
              </a:rPr>
              <a:t>Insights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414134-CEC7-DE21-D410-FD46FCCF16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360" y="1772816"/>
            <a:ext cx="4464496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5A4985-A95E-2A77-25D4-56DB4BBE5634}"/>
              </a:ext>
            </a:extLst>
          </p:cNvPr>
          <p:cNvSpPr txBox="1"/>
          <p:nvPr/>
        </p:nvSpPr>
        <p:spPr>
          <a:xfrm>
            <a:off x="5159896" y="1595021"/>
            <a:ext cx="676875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Text length features are strongly tied together: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Character count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char_count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), word count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word_count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), and clean word count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clean_word_count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 have very high positive correlations (between 0.88 and 0.93). Longer titles naturally have higher character and word counts. 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Hourly rates move together: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The low hourly rate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hourly_low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 and high hourly rate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hourly_high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 show a strong positive correlation (0.74), meaning job posts with higher minimum rates also tend to offer higher maximum rates.   </a:t>
            </a: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Hourly status links to hourly rates: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Whether a job is hourly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is_hourly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 shows a moderate positive correlation with both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hourly_low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(0.57) and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hourly_high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(0.53). 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Text length has zero effect on job pricing: 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Title length (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char_count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or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word_count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) has practically no correlation (near 0.00) with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hourly_low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hourly_high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or budget. The length of a title does not impact job pay.   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b="1" dirty="0">
                <a:latin typeface="Arial" panose="020B0604020202020204" pitchFamily="34" charset="0"/>
                <a:cs typeface="Arial" panose="020B0604020202020204" pitchFamily="34" charset="0"/>
              </a:rPr>
              <a:t>Fixed budget is independent of other features: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Fixed-price budget has virtually no correlation (near -0.01 to -0.04) with text length metrics or hourly pricing features. </a:t>
            </a:r>
          </a:p>
        </p:txBody>
      </p:sp>
    </p:spTree>
    <p:extLst>
      <p:ext uri="{BB962C8B-B14F-4D97-AF65-F5344CB8AC3E}">
        <p14:creationId xmlns:p14="http://schemas.microsoft.com/office/powerpoint/2010/main" val="3067148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93581-B3FF-AEF9-E27D-AF166A06F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i="1" u="sng" dirty="0">
                <a:latin typeface="Agency FB" panose="020B0503020202020204" pitchFamily="34" charset="0"/>
              </a:rPr>
              <a:t>Train the model</a:t>
            </a:r>
            <a:endParaRPr lang="en-IN" sz="4400" i="1" u="sng" dirty="0">
              <a:latin typeface="Agency FB" panose="020B0503020202020204" pitchFamily="34" charset="0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53B9C24-53F0-381F-9F5B-DD8441ADB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8154"/>
          <a:stretch>
            <a:fillRect/>
          </a:stretch>
        </p:blipFill>
        <p:spPr>
          <a:xfrm>
            <a:off x="1066800" y="1988840"/>
            <a:ext cx="9853736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174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C8D9C-5AF6-6F07-7920-57DF3C87D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i="1" u="sng" dirty="0" err="1">
                <a:latin typeface="Agency FB" panose="020B0503020202020204" pitchFamily="34" charset="0"/>
              </a:rPr>
              <a:t>Streamlit</a:t>
            </a:r>
            <a:endParaRPr lang="en-IN" sz="5400" i="1" u="sng" dirty="0">
              <a:latin typeface="Agency FB" panose="020B0503020202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58E2461-8164-96B7-B355-6F78BF3A2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0128" y="1828800"/>
            <a:ext cx="1056245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687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9CDC-42BA-5C30-4709-8D0F315FD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5400" i="1" u="sng" dirty="0">
                <a:latin typeface="Agency FB" panose="020B050302020202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4BF34-B205-0DB0-022A-7A5B737B6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424" y="1916832"/>
            <a:ext cx="10369152" cy="4768553"/>
          </a:xfrm>
        </p:spPr>
        <p:txBody>
          <a:bodyPr>
            <a:normAutofit fontScale="92500" lnSpcReduction="20000"/>
          </a:bodyPr>
          <a:lstStyle/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Most jobs on Upwork are hourly, not fixed-price.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The United States posts the most jobs, far more than any other country.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Clients want social media, video editing, virtual assistants, and marketing work the most.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Most fixed-price jobs have a small budget, under $500.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Job titles are short, usually 3 to 5 words.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The length of a title does not affect the pay.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Job titles alone cannot predict the budget.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So we used titles to build a job recommender that finds similar jobs for any skill or title.</a:t>
            </a:r>
          </a:p>
          <a:p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3297434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7C48F9-6E9B-D646-CD0E-5562BD3D5639}"/>
              </a:ext>
            </a:extLst>
          </p:cNvPr>
          <p:cNvSpPr/>
          <p:nvPr/>
        </p:nvSpPr>
        <p:spPr>
          <a:xfrm>
            <a:off x="4007768" y="2780928"/>
            <a:ext cx="396044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2986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Medical Design 16x9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001141.potx" id="{D7485564-6666-4DDB-B0D3-55F6E694D6E5}" vid="{6E950D30-6FC6-4411-BCFF-468AD9ECA787}"/>
    </a:ext>
  </a:extLst>
</a:theme>
</file>

<file path=ppt/theme/theme2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Medical design presentation (widescreen)</Template>
  <TotalTime>95</TotalTime>
  <Words>955</Words>
  <Application>Microsoft Office PowerPoint</Application>
  <PresentationFormat>Widescreen</PresentationFormat>
  <Paragraphs>69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Agency FB</vt:lpstr>
      <vt:lpstr>Arial</vt:lpstr>
      <vt:lpstr>Franklin Gothic Medium</vt:lpstr>
      <vt:lpstr>Medical Design 16x9</vt:lpstr>
      <vt:lpstr>Job Market Analysis and Recommendation System</vt:lpstr>
      <vt:lpstr>Project Toolkit</vt:lpstr>
      <vt:lpstr>PowerPoint Presentation</vt:lpstr>
      <vt:lpstr>Insights </vt:lpstr>
      <vt:lpstr>Insights</vt:lpstr>
      <vt:lpstr>Insights</vt:lpstr>
      <vt:lpstr>Insights</vt:lpstr>
      <vt:lpstr>Insights</vt:lpstr>
      <vt:lpstr>Train the model</vt:lpstr>
      <vt:lpstr>Streamlit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Vincy Mehta</dc:creator>
  <cp:lastModifiedBy>Vincy Mehta</cp:lastModifiedBy>
  <cp:revision>8</cp:revision>
  <dcterms:created xsi:type="dcterms:W3CDTF">2026-10-13T17:35:43Z</dcterms:created>
  <dcterms:modified xsi:type="dcterms:W3CDTF">2026-10-14T18:08:52Z</dcterms:modified>
</cp:coreProperties>
</file>